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F172A"/>
          </a:solidFill>
          <a:ln>
            <a:solidFill>
              <a:srgbClr val="0F172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1371600"/>
            <a:ext cx="6858000" cy="3200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4400" b="1">
                <a:solidFill>
                  <a:srgbClr val="FFFFFF"/>
                </a:solidFill>
              </a:defRPr>
            </a:pPr>
            <a:r>
              <a:t>Winners Creek Simulation Lab</a:t>
            </a:r>
          </a:p>
          <a:p>
            <a:pPr>
              <a:spcBef>
                <a:spcPts val="2000"/>
              </a:spcBef>
              <a:defRPr sz="2400">
                <a:solidFill>
                  <a:srgbClr val="38BDF8"/>
                </a:solidFill>
              </a:defRPr>
            </a:pPr>
            <a:r>
              <a:t>High-Fidelity Slide Rendering Architecture</a:t>
            </a:r>
          </a:p>
          <a:p>
            <a:pPr>
              <a:spcBef>
                <a:spcPts val="1400"/>
              </a:spcBef>
              <a:defRPr sz="1600">
                <a:solidFill>
                  <a:srgbClr val="94A3B8"/>
                </a:solidFill>
              </a:defRPr>
            </a:pPr>
            <a:r>
              <a:t>End-to-end verification of visual fidelity, table layouts, and typography.</a:t>
            </a:r>
          </a:p>
        </p:txBody>
      </p:sp>
      <p:pic>
        <p:nvPicPr>
          <p:cNvPr id="4" name="Picture 3" descr="temp-sampl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229600" y="1828800"/>
            <a:ext cx="3200400" cy="24003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>
            <a:solidFill>
              <a:srgbClr val="F8FAF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731520"/>
            <a:ext cx="10058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3200" b="1">
                <a:solidFill>
                  <a:srgbClr val="1E293B"/>
                </a:solidFill>
              </a:defRPr>
            </a:pPr>
            <a:r>
              <a:t>Component Architecture &amp; Delivery Matrix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1828800"/>
            <a:ext cx="50292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</a:defRPr>
            </a:pPr>
            <a:r>
              <a:t>• Vector-accurate visual presentation rendering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</a:defRPr>
            </a:pPr>
            <a:r>
              <a:t>• Zero-drop typography preservation across operating systems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</a:defRPr>
            </a:pPr>
            <a:r>
              <a:t>• Deterministic speech metric synthesis</a:t>
            </a:r>
          </a:p>
          <a:p>
            <a:pPr>
              <a:spcAft>
                <a:spcPts val="1400"/>
              </a:spcAft>
              <a:defRPr sz="1600">
                <a:solidFill>
                  <a:srgbClr val="334155"/>
                </a:solidFill>
              </a:defRPr>
            </a:pPr>
            <a:r>
              <a:t>• Bi-directional adaptive follow-up interview engine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6400800" y="1828800"/>
          <a:ext cx="4846320" cy="228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45920"/>
                <a:gridCol w="1828800"/>
                <a:gridCol w="1371600"/>
              </a:tblGrid>
              <a:tr h="571500"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Subsystem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Provider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400">
                          <a:solidFill>
                            <a:srgbClr val="FFFFFF"/>
                          </a:solidFill>
                        </a:defRPr>
                      </a:pPr>
                      <a:r>
                        <a:t>Target SLA</a:t>
                      </a:r>
                    </a:p>
                  </a:txBody>
                  <a:tcPr>
                    <a:solidFill>
                      <a:srgbClr val="2563EB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Visual Slides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LibreOffice + pdftoppm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&lt; 1.5s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Live Speech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Gemini 3.5 Transcribe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&lt; 800ms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571500"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AI Defense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Gemini 3.8 Flash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300">
                          <a:solidFill>
                            <a:srgbClr val="0F172A"/>
                          </a:solidFill>
                        </a:defRPr>
                      </a:pPr>
                      <a:r>
                        <a:t>&lt; 1.2s</a:t>
                      </a:r>
                    </a:p>
                  </a:txBody>
                  <a:tcPr>
                    <a:solidFill>
                      <a:srgbClr val="F1F5F9"/>
                    </a:solidFill>
                  </a:tcPr>
                </a:tc>
              </a:tr>
            </a:tbl>
          </a:graphicData>
        </a:graphic>
      </p:graphicFrame>
      <p:sp>
        <p:nvSpPr>
          <p:cNvPr id="6" name="Rounded Rectangle 5"/>
          <p:cNvSpPr/>
          <p:nvPr/>
        </p:nvSpPr>
        <p:spPr>
          <a:xfrm>
            <a:off x="6400800" y="4572000"/>
            <a:ext cx="2286000" cy="1097280"/>
          </a:xfrm>
          <a:prstGeom prst="roundRect">
            <a:avLst/>
          </a:prstGeom>
          <a:solidFill>
            <a:srgbClr val="10B981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Production Grade</a:t>
            </a:r>
          </a:p>
        </p:txBody>
      </p:sp>
      <p:sp>
        <p:nvSpPr>
          <p:cNvPr id="7" name="Hexagon 6"/>
          <p:cNvSpPr/>
          <p:nvPr/>
        </p:nvSpPr>
        <p:spPr>
          <a:xfrm>
            <a:off x="8961120" y="4572000"/>
            <a:ext cx="2286000" cy="1097280"/>
          </a:xfrm>
          <a:prstGeom prst="hexagon">
            <a:avLst/>
          </a:prstGeom>
          <a:solidFill>
            <a:srgbClr val="8B5CF6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>
              <a:defRPr sz="1600" b="1"/>
            </a:pPr>
            <a:r>
              <a:t>100% Fidelity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111827"/>
          </a:solidFill>
          <a:ln>
            <a:solidFill>
              <a:srgbClr val="111827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914400" y="914400"/>
            <a:ext cx="1033272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3600" b="1">
                <a:solidFill>
                  <a:srgbClr val="FFFFFF"/>
                </a:solidFill>
              </a:defRPr>
            </a:pPr>
            <a:r>
              <a:t>Evaluation Summary &amp; Telemetry</a:t>
            </a:r>
          </a:p>
          <a:p>
            <a:pPr>
              <a:spcBef>
                <a:spcPts val="2000"/>
              </a:spcBef>
              <a:defRPr sz="2800">
                <a:solidFill>
                  <a:srgbClr val="34D399"/>
                </a:solidFill>
              </a:defRPr>
            </a:pPr>
            <a:r>
              <a:t>Large Callout: 99.8% System Accuracy</a:t>
            </a:r>
          </a:p>
          <a:p>
            <a:pPr>
              <a:spcBef>
                <a:spcPts val="1500"/>
              </a:spcBef>
              <a:defRPr sz="1800">
                <a:solidFill>
                  <a:srgbClr val="E2E8F0"/>
                </a:solidFill>
              </a:defRPr>
            </a:pPr>
            <a:r>
              <a:t>Medium Analysis: Multi-tier semantic evaluation across content, structure, communication, and delivery rubrics.</a:t>
            </a:r>
          </a:p>
          <a:p>
            <a:pPr>
              <a:spcBef>
                <a:spcPts val="1500"/>
              </a:spcBef>
              <a:defRPr sz="1200">
                <a:solidFill>
                  <a:srgbClr val="94A3B8"/>
                </a:solidFill>
              </a:defRPr>
            </a:pPr>
            <a:r>
              <a:t>Small Footnote: Detailed session timestamps, word per minute calculations, and filler rates persisted directly in PostgreSQL.</a:t>
            </a:r>
          </a:p>
        </p:txBody>
      </p:sp>
      <p:pic>
        <p:nvPicPr>
          <p:cNvPr id="4" name="Picture 3" descr="temp-sample-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858000" y="2926080"/>
            <a:ext cx="4114800" cy="30861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